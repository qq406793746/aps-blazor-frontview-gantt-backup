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14630400" cy="8229600"/>
  <p:notesSz cx="8229600" cy="14630400"/>
  <p:embeddedFontLst>
    <p:embeddedFont>
      <p:font typeface="DM Sans" pitchFamily="2" charset="0"/>
      <p:regular r:id="rId21"/>
      <p:bold r:id="rId22"/>
    </p:embeddedFont>
    <p:embeddedFont>
      <p:font typeface="PT Serif" panose="020A0603040505020204" pitchFamily="18" charset="0"/>
      <p:regular r:id="rId23"/>
      <p:bold r:id="rId24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600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2882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A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C0D3BC9-6416-9911-6E84-7BBE0992477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7063550" y="8044180"/>
            <a:ext cx="560387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zh-CN" altLang="en-US" sz="800">
                <a:solidFill>
                  <a:srgbClr val="FF0000">
                    <a:alpha val="5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sv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svg"/><Relationship Id="rId3" Type="http://schemas.openxmlformats.org/officeDocument/2006/relationships/image" Target="../media/image19.png"/><Relationship Id="rId7" Type="http://schemas.openxmlformats.org/officeDocument/2006/relationships/image" Target="../media/image23.sv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2.png"/><Relationship Id="rId11" Type="http://schemas.openxmlformats.org/officeDocument/2006/relationships/image" Target="../media/image27.sv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svg"/><Relationship Id="rId9" Type="http://schemas.openxmlformats.org/officeDocument/2006/relationships/image" Target="../media/image25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40.png"/><Relationship Id="rId7" Type="http://schemas.openxmlformats.org/officeDocument/2006/relationships/image" Target="../media/image4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43.png"/><Relationship Id="rId11" Type="http://schemas.openxmlformats.org/officeDocument/2006/relationships/image" Target="../media/image48.svg"/><Relationship Id="rId5" Type="http://schemas.openxmlformats.org/officeDocument/2006/relationships/image" Target="../media/image42.svg"/><Relationship Id="rId10" Type="http://schemas.openxmlformats.org/officeDocument/2006/relationships/image" Target="../media/image47.png"/><Relationship Id="rId4" Type="http://schemas.openxmlformats.org/officeDocument/2006/relationships/image" Target="../media/image41.png"/><Relationship Id="rId9" Type="http://schemas.openxmlformats.org/officeDocument/2006/relationships/image" Target="../media/image46.sv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13" Type="http://schemas.openxmlformats.org/officeDocument/2006/relationships/image" Target="../media/image59.png"/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12" Type="http://schemas.openxmlformats.org/officeDocument/2006/relationships/image" Target="../media/image5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2.png"/><Relationship Id="rId11" Type="http://schemas.openxmlformats.org/officeDocument/2006/relationships/image" Target="../media/image57.svg"/><Relationship Id="rId5" Type="http://schemas.openxmlformats.org/officeDocument/2006/relationships/image" Target="../media/image51.svg"/><Relationship Id="rId10" Type="http://schemas.openxmlformats.org/officeDocument/2006/relationships/image" Target="../media/image56.png"/><Relationship Id="rId4" Type="http://schemas.openxmlformats.org/officeDocument/2006/relationships/image" Target="../media/image50.png"/><Relationship Id="rId9" Type="http://schemas.openxmlformats.org/officeDocument/2006/relationships/image" Target="../media/image55.png"/><Relationship Id="rId14" Type="http://schemas.openxmlformats.org/officeDocument/2006/relationships/image" Target="../media/image60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6296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生产制造业MES系统解决方案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457497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助力模具制造企业数字化转型，实现智能化生产管理与精益制造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93030"/>
            <a:ext cx="7556421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Assist mold manufacturing enterprises in digital transformation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12219" y="481013"/>
            <a:ext cx="769501" cy="328613"/>
          </a:xfrm>
          <a:prstGeom prst="roundRect">
            <a:avLst>
              <a:gd name="adj" fmla="val 6388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17113" y="533400"/>
            <a:ext cx="559713" cy="2238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目录导航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2219" y="879515"/>
            <a:ext cx="4591764" cy="57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核心内容概览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12219" y="1912501"/>
            <a:ext cx="174903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12219" y="2186821"/>
            <a:ext cx="7181255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12219" y="2319933"/>
            <a:ext cx="2525078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模具行业现状分析及方案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12219" y="2781776"/>
            <a:ext cx="718125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深入剖析行业痛点，提供针对性解决方案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612219" y="3367564"/>
            <a:ext cx="174903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2219" y="3641884"/>
            <a:ext cx="7181255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612219" y="3774996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功能概述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2219" y="4236839"/>
            <a:ext cx="718125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全面展示MES系统核心功能模块与业务流程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12219" y="4822627"/>
            <a:ext cx="174903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219" y="5096947"/>
            <a:ext cx="7181255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12219" y="5230058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客户案例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12219" y="5691902"/>
            <a:ext cx="718125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实施效果与数字化转型成功经验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12219" y="6277689"/>
            <a:ext cx="174903" cy="218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04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12219" y="6552009"/>
            <a:ext cx="7181255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12219" y="6685121"/>
            <a:ext cx="2295882" cy="286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公司介绍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12219" y="7146965"/>
            <a:ext cx="7181255" cy="2797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专业团队与技术实力展示</a:t>
            </a:r>
            <a:endParaRPr lang="en-US" sz="1350" dirty="0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7814" y="1912501"/>
            <a:ext cx="5797987" cy="579798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76738"/>
            <a:ext cx="7556421" cy="148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01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6280190" y="430541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模具行业现状分析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5389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探索数字化转型的必然趋势与核心价值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43251"/>
            <a:ext cx="951607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MES系统在企业信息化架构中的定位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244113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打通计划层、执行层与控制层，构建完整的智能制造体系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059192"/>
            <a:ext cx="4196358" cy="2708077"/>
          </a:xfrm>
          <a:prstGeom prst="roundRect">
            <a:avLst>
              <a:gd name="adj" fmla="val 1256"/>
            </a:avLst>
          </a:prstGeom>
          <a:solidFill>
            <a:srgbClr val="E1E1D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Text 3"/>
          <p:cNvSpPr/>
          <p:nvPr/>
        </p:nvSpPr>
        <p:spPr>
          <a:xfrm>
            <a:off x="1020604" y="32860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0000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SAP/ERP 计划层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020604" y="379416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集成化管理信息系统，位于企业上层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020604" y="429315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整体资源规划与调度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1020604" y="473535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对车间层管理缺乏直接支持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020604" y="517755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需要中间执行层连接生产现场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5216962" y="3059192"/>
            <a:ext cx="4196358" cy="2708077"/>
          </a:xfrm>
          <a:prstGeom prst="roundRect">
            <a:avLst>
              <a:gd name="adj" fmla="val 1256"/>
            </a:avLst>
          </a:prstGeom>
          <a:solidFill>
            <a:srgbClr val="1F1F1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5443776" y="32860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 车间管理层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5443776" y="379416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制造执行系统，位于企业中层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5443776" y="429315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组织"计划"与"生产"密切配合</a:t>
            </a:r>
            <a:endParaRPr lang="en-US" sz="1750" dirty="0"/>
          </a:p>
        </p:txBody>
      </p:sp>
      <p:sp>
        <p:nvSpPr>
          <p:cNvPr id="14" name="Text 12"/>
          <p:cNvSpPr/>
          <p:nvPr/>
        </p:nvSpPr>
        <p:spPr>
          <a:xfrm>
            <a:off x="5443776" y="473535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实时掌握现场变化与异常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5443776" y="517755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确保生产计划得到合理修正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9640133" y="3059192"/>
            <a:ext cx="4196358" cy="2708077"/>
          </a:xfrm>
          <a:prstGeom prst="roundRect">
            <a:avLst>
              <a:gd name="adj" fmla="val 1256"/>
            </a:avLst>
          </a:prstGeom>
          <a:solidFill>
            <a:srgbClr val="1A1A1A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866948" y="3286006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FFFFFF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现场作业 生产控制层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9866948" y="3794165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位于企业基层，直接控制设备运行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9866948" y="4293156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避免人为失误，提高稼动率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9866948" y="4735354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监控设备和工艺参数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9866948" y="5177552"/>
            <a:ext cx="374273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提供实时加工统计数据</a:t>
            </a:r>
            <a:endParaRPr lang="en-US" sz="1750" dirty="0"/>
          </a:p>
        </p:txBody>
      </p:sp>
      <p:sp>
        <p:nvSpPr>
          <p:cNvPr id="22" name="Shape 20"/>
          <p:cNvSpPr/>
          <p:nvPr/>
        </p:nvSpPr>
        <p:spPr>
          <a:xfrm>
            <a:off x="793790" y="6022419"/>
            <a:ext cx="13042821" cy="963811"/>
          </a:xfrm>
          <a:prstGeom prst="roundRect">
            <a:avLst>
              <a:gd name="adj" fmla="val 3530"/>
            </a:avLst>
          </a:prstGeom>
          <a:solidFill>
            <a:srgbClr val="FFCDB3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604" y="6366510"/>
            <a:ext cx="283488" cy="226814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530906" y="6305907"/>
            <a:ext cx="120788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核心问题：</a:t>
            </a: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生产信息反馈不完整，导致计划与执行脱节，MES系统正是解决这一痛点的关键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3058" y="513040"/>
            <a:ext cx="5386864" cy="612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模具制造企业的核心痛点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653058" y="1498402"/>
            <a:ext cx="1332428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传统管理模式下的四大挑战制约企业竞争力提升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53058" y="2286595"/>
            <a:ext cx="6568797" cy="2483644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" name="Shape 3"/>
          <p:cNvSpPr/>
          <p:nvPr/>
        </p:nvSpPr>
        <p:spPr>
          <a:xfrm>
            <a:off x="653058" y="2263735"/>
            <a:ext cx="6568797" cy="91440"/>
          </a:xfrm>
          <a:prstGeom prst="roundRect">
            <a:avLst>
              <a:gd name="adj" fmla="val 3060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657540" y="2006798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25419" y="2174677"/>
            <a:ext cx="223838" cy="2238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2489" y="2753082"/>
            <a:ext cx="2448997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交期管理困境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62489" y="3171111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订单交期无法有效监控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62489" y="3534847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生产计划性差，进度难以控制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862489" y="3898582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订单过多时主管排列困难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62489" y="4262318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延期风险高，客户满意度下降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7408426" y="2286595"/>
            <a:ext cx="6568916" cy="2483644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7408426" y="2263735"/>
            <a:ext cx="6568916" cy="91440"/>
          </a:xfrm>
          <a:prstGeom prst="roundRect">
            <a:avLst>
              <a:gd name="adj" fmla="val 3060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2"/>
          <p:cNvSpPr/>
          <p:nvPr/>
        </p:nvSpPr>
        <p:spPr>
          <a:xfrm>
            <a:off x="10413028" y="2006798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80906" y="2174677"/>
            <a:ext cx="223838" cy="223838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617857" y="2753082"/>
            <a:ext cx="2448997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质量追溯缺失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7617857" y="3171111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质量问题难以追溯根源</a:t>
            </a:r>
            <a:endParaRPr lang="en-US" sz="1450" dirty="0"/>
          </a:p>
        </p:txBody>
      </p:sp>
      <p:sp>
        <p:nvSpPr>
          <p:cNvPr id="19" name="Text 15"/>
          <p:cNvSpPr/>
          <p:nvPr/>
        </p:nvSpPr>
        <p:spPr>
          <a:xfrm>
            <a:off x="7617857" y="3534847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加工异常无法快速分析</a:t>
            </a:r>
            <a:endParaRPr lang="en-US" sz="1450" dirty="0"/>
          </a:p>
        </p:txBody>
      </p:sp>
      <p:sp>
        <p:nvSpPr>
          <p:cNvPr id="20" name="Text 16"/>
          <p:cNvSpPr/>
          <p:nvPr/>
        </p:nvSpPr>
        <p:spPr>
          <a:xfrm>
            <a:off x="7617857" y="3898582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缺乏系统化的质量报表</a:t>
            </a:r>
            <a:endParaRPr lang="en-US" sz="1450" dirty="0"/>
          </a:p>
        </p:txBody>
      </p:sp>
      <p:sp>
        <p:nvSpPr>
          <p:cNvPr id="21" name="Text 17"/>
          <p:cNvSpPr/>
          <p:nvPr/>
        </p:nvSpPr>
        <p:spPr>
          <a:xfrm>
            <a:off x="7617857" y="4262318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PDCA循环难以建立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653058" y="5236607"/>
            <a:ext cx="6568797" cy="2483644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19"/>
          <p:cNvSpPr/>
          <p:nvPr/>
        </p:nvSpPr>
        <p:spPr>
          <a:xfrm>
            <a:off x="653058" y="5213747"/>
            <a:ext cx="6568797" cy="91440"/>
          </a:xfrm>
          <a:prstGeom prst="roundRect">
            <a:avLst>
              <a:gd name="adj" fmla="val 3060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0"/>
          <p:cNvSpPr/>
          <p:nvPr/>
        </p:nvSpPr>
        <p:spPr>
          <a:xfrm>
            <a:off x="3657540" y="4956810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25419" y="5124688"/>
            <a:ext cx="223838" cy="2238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862489" y="5703094"/>
            <a:ext cx="2448997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成本管控薄弱</a:t>
            </a:r>
            <a:endParaRPr lang="en-US" sz="1900" dirty="0"/>
          </a:p>
        </p:txBody>
      </p:sp>
      <p:sp>
        <p:nvSpPr>
          <p:cNvPr id="27" name="Text 22"/>
          <p:cNvSpPr/>
          <p:nvPr/>
        </p:nvSpPr>
        <p:spPr>
          <a:xfrm>
            <a:off x="862489" y="6121122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成本管理意识不强，缺乏考核</a:t>
            </a:r>
            <a:endParaRPr lang="en-US" sz="1450" dirty="0"/>
          </a:p>
        </p:txBody>
      </p:sp>
      <p:sp>
        <p:nvSpPr>
          <p:cNvPr id="28" name="Text 23"/>
          <p:cNvSpPr/>
          <p:nvPr/>
        </p:nvSpPr>
        <p:spPr>
          <a:xfrm>
            <a:off x="862489" y="6484858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员工绩效考核不科学</a:t>
            </a:r>
            <a:endParaRPr lang="en-US" sz="1450" dirty="0"/>
          </a:p>
        </p:txBody>
      </p:sp>
      <p:sp>
        <p:nvSpPr>
          <p:cNvPr id="29" name="Text 24"/>
          <p:cNvSpPr/>
          <p:nvPr/>
        </p:nvSpPr>
        <p:spPr>
          <a:xfrm>
            <a:off x="862489" y="6848594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资源负荷分配不均衡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862489" y="7212330"/>
            <a:ext cx="6149935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手动统计数据不准确且效率低</a:t>
            </a:r>
            <a:endParaRPr lang="en-US" sz="1450" dirty="0"/>
          </a:p>
        </p:txBody>
      </p:sp>
      <p:sp>
        <p:nvSpPr>
          <p:cNvPr id="31" name="Shape 26"/>
          <p:cNvSpPr/>
          <p:nvPr/>
        </p:nvSpPr>
        <p:spPr>
          <a:xfrm>
            <a:off x="7408426" y="5236607"/>
            <a:ext cx="6568916" cy="2483644"/>
          </a:xfrm>
          <a:prstGeom prst="roundRect">
            <a:avLst>
              <a:gd name="adj" fmla="val 4418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7"/>
          <p:cNvSpPr/>
          <p:nvPr/>
        </p:nvSpPr>
        <p:spPr>
          <a:xfrm>
            <a:off x="7408426" y="5213747"/>
            <a:ext cx="6568916" cy="91440"/>
          </a:xfrm>
          <a:prstGeom prst="roundRect">
            <a:avLst>
              <a:gd name="adj" fmla="val 3060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Shape 28"/>
          <p:cNvSpPr/>
          <p:nvPr/>
        </p:nvSpPr>
        <p:spPr>
          <a:xfrm>
            <a:off x="10413028" y="4956810"/>
            <a:ext cx="559713" cy="559713"/>
          </a:xfrm>
          <a:prstGeom prst="roundRect">
            <a:avLst>
              <a:gd name="adj" fmla="val 163369"/>
            </a:avLst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580906" y="5124688"/>
            <a:ext cx="223838" cy="22383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617857" y="5703094"/>
            <a:ext cx="2448997" cy="306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现场管理混乱</a:t>
            </a:r>
            <a:endParaRPr lang="en-US" sz="1900" dirty="0"/>
          </a:p>
        </p:txBody>
      </p:sp>
      <p:sp>
        <p:nvSpPr>
          <p:cNvPr id="36" name="Text 30"/>
          <p:cNvSpPr/>
          <p:nvPr/>
        </p:nvSpPr>
        <p:spPr>
          <a:xfrm>
            <a:off x="7617857" y="6121122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685800" lvl="1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历史数据难以管理和查询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7617857" y="6484858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员工响应时间无法记录分析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7617857" y="6848594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无法实时监控现场加工状态</a:t>
            </a:r>
            <a:endParaRPr lang="en-US" sz="1450" dirty="0"/>
          </a:p>
        </p:txBody>
      </p:sp>
      <p:sp>
        <p:nvSpPr>
          <p:cNvPr id="39" name="Text 33"/>
          <p:cNvSpPr/>
          <p:nvPr/>
        </p:nvSpPr>
        <p:spPr>
          <a:xfrm>
            <a:off x="7617857" y="7212330"/>
            <a:ext cx="6150054" cy="2984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350"/>
              </a:lnSpc>
              <a:buSzPct val="100000"/>
              <a:buChar char="•"/>
            </a:pPr>
            <a:r>
              <a:rPr lang="en-US" sz="14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产品、物料、工位自动追溯困难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7459" y="493038"/>
            <a:ext cx="4706779" cy="588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MES系统规划蓝图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27459" y="1439823"/>
            <a:ext cx="1337548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聚焦核心制造流程，打造精益化生产管理闭环</a:t>
            </a:r>
            <a:endParaRPr lang="en-US" sz="140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59" y="1928336"/>
            <a:ext cx="896422" cy="10757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03070" y="2107525"/>
            <a:ext cx="235338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订单导入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1703070" y="2509242"/>
            <a:ext cx="1229987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集团模具订单系统自动导入</a:t>
            </a:r>
            <a:endParaRPr lang="en-US" sz="140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459" y="3004066"/>
            <a:ext cx="896422" cy="107573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703070" y="3183255"/>
            <a:ext cx="235338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设计与BOM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1703070" y="3584972"/>
            <a:ext cx="1229987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模具设计与清单生成</a:t>
            </a:r>
            <a:endParaRPr lang="en-US" sz="14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459" y="4079796"/>
            <a:ext cx="896422" cy="107573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03070" y="4258985"/>
            <a:ext cx="235338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工艺规划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1703070" y="4660702"/>
            <a:ext cx="1229987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工艺设计与APS智能调度</a:t>
            </a:r>
            <a:endParaRPr lang="en-US" sz="140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9" y="5155525"/>
            <a:ext cx="896422" cy="107573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703070" y="5334714"/>
            <a:ext cx="235338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现场加工</a:t>
            </a:r>
            <a:endParaRPr lang="en-US" sz="1850" dirty="0"/>
          </a:p>
        </p:txBody>
      </p:sp>
      <p:sp>
        <p:nvSpPr>
          <p:cNvPr id="15" name="Text 9"/>
          <p:cNvSpPr/>
          <p:nvPr/>
        </p:nvSpPr>
        <p:spPr>
          <a:xfrm>
            <a:off x="1703070" y="5736431"/>
            <a:ext cx="1229987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生产执行与实时监控</a:t>
            </a:r>
            <a:endParaRPr lang="en-US" sz="140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459" y="6231255"/>
            <a:ext cx="896422" cy="1075730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703070" y="6410444"/>
            <a:ext cx="2353389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质检报表</a:t>
            </a:r>
            <a:endParaRPr lang="en-US" sz="1850" dirty="0"/>
          </a:p>
        </p:txBody>
      </p:sp>
      <p:sp>
        <p:nvSpPr>
          <p:cNvPr id="18" name="Text 11"/>
          <p:cNvSpPr/>
          <p:nvPr/>
        </p:nvSpPr>
        <p:spPr>
          <a:xfrm>
            <a:off x="1703070" y="6812161"/>
            <a:ext cx="12299871" cy="286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品质检验与数据分析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627459" y="7508677"/>
            <a:ext cx="13375481" cy="2295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本方案聚焦制造执行核心环节，已优化剔除SRM、采购、委外、物流、仓储、设备联网、TPM、试模、交付及成本统计等非核心模块，确保系统轻量高效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83394" y="379809"/>
            <a:ext cx="773430" cy="259556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6261" y="454343"/>
            <a:ext cx="110490" cy="11049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996" y="421243"/>
            <a:ext cx="441960" cy="1766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8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核心模块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83394" y="694611"/>
            <a:ext cx="3625810" cy="453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MES核心功能模块架构</a:t>
            </a:r>
            <a:endParaRPr lang="en-US" sz="28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94" y="1510308"/>
            <a:ext cx="5263277" cy="36011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091238" y="1493044"/>
            <a:ext cx="2175510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细化功能清单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6091238" y="1902976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BOM管理：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物料清单自动生成与版本追溯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6091238" y="2172295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工艺模板：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标准工艺库建立与快速复用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6091238" y="2441615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工序排布：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优化加工顺序与资源配置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6091238" y="2710934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智能排产：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APS算法自动排程与负荷分析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6091238" y="2980253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生产派工：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任务下发与实时进度监控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091238" y="3249573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看板视图：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可视化展示生产状态与异常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6091238" y="3518892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质量检验：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多级检验与不良品追溯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091238" y="3788212"/>
            <a:ext cx="8063389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050" b="1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报表统计：</a:t>
            </a: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多维度数据分析与决策支持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483394" y="5422225"/>
            <a:ext cx="13663612" cy="3226594"/>
          </a:xfrm>
          <a:prstGeom prst="roundRect">
            <a:avLst>
              <a:gd name="adj" fmla="val 642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3"/>
          <p:cNvSpPr/>
          <p:nvPr/>
        </p:nvSpPr>
        <p:spPr>
          <a:xfrm>
            <a:off x="483394" y="5422225"/>
            <a:ext cx="6831806" cy="806648"/>
          </a:xfrm>
          <a:prstGeom prst="roundRect">
            <a:avLst>
              <a:gd name="adj" fmla="val 256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4"/>
          <p:cNvSpPr/>
          <p:nvPr/>
        </p:nvSpPr>
        <p:spPr>
          <a:xfrm>
            <a:off x="621506" y="5560338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订单管理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21506" y="5869781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订单导入、评估与监控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7315200" y="5422225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7"/>
          <p:cNvSpPr/>
          <p:nvPr/>
        </p:nvSpPr>
        <p:spPr>
          <a:xfrm>
            <a:off x="7315200" y="5422225"/>
            <a:ext cx="15240" cy="806648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7660481" y="5560338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项目管理</a:t>
            </a:r>
            <a:endParaRPr lang="en-US" sz="1400" dirty="0"/>
          </a:p>
        </p:txBody>
      </p:sp>
      <p:sp>
        <p:nvSpPr>
          <p:cNvPr id="23" name="Text 19"/>
          <p:cNvSpPr/>
          <p:nvPr/>
        </p:nvSpPr>
        <p:spPr>
          <a:xfrm>
            <a:off x="7660481" y="5869781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进度跟踪与版本控制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7142559" y="5652849"/>
            <a:ext cx="345281" cy="345281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228880" y="5739170"/>
            <a:ext cx="172641" cy="172641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483394" y="6228874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2"/>
          <p:cNvSpPr/>
          <p:nvPr/>
        </p:nvSpPr>
        <p:spPr>
          <a:xfrm>
            <a:off x="483394" y="6228874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621506" y="6366986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设计管理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621506" y="6676430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图纸与BOM清单管理</a:t>
            </a:r>
            <a:endParaRPr lang="en-US" sz="1050" dirty="0"/>
          </a:p>
        </p:txBody>
      </p:sp>
      <p:sp>
        <p:nvSpPr>
          <p:cNvPr id="30" name="Shape 25"/>
          <p:cNvSpPr/>
          <p:nvPr/>
        </p:nvSpPr>
        <p:spPr>
          <a:xfrm>
            <a:off x="7315200" y="6228874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1" name="Shape 26"/>
          <p:cNvSpPr/>
          <p:nvPr/>
        </p:nvSpPr>
        <p:spPr>
          <a:xfrm>
            <a:off x="7315200" y="6228874"/>
            <a:ext cx="15240" cy="806648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2" name="Shape 27"/>
          <p:cNvSpPr/>
          <p:nvPr/>
        </p:nvSpPr>
        <p:spPr>
          <a:xfrm>
            <a:off x="7315200" y="6228874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3" name="Text 28"/>
          <p:cNvSpPr/>
          <p:nvPr/>
        </p:nvSpPr>
        <p:spPr>
          <a:xfrm>
            <a:off x="7660481" y="6366986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工艺管理</a:t>
            </a:r>
            <a:endParaRPr lang="en-US" sz="1400" dirty="0"/>
          </a:p>
        </p:txBody>
      </p:sp>
      <p:sp>
        <p:nvSpPr>
          <p:cNvPr id="34" name="Text 29"/>
          <p:cNvSpPr/>
          <p:nvPr/>
        </p:nvSpPr>
        <p:spPr>
          <a:xfrm>
            <a:off x="7660481" y="6676430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工艺模板、路线与知识库</a:t>
            </a:r>
            <a:endParaRPr lang="en-US" sz="1050" dirty="0"/>
          </a:p>
        </p:txBody>
      </p:sp>
      <p:sp>
        <p:nvSpPr>
          <p:cNvPr id="35" name="Shape 30"/>
          <p:cNvSpPr/>
          <p:nvPr/>
        </p:nvSpPr>
        <p:spPr>
          <a:xfrm>
            <a:off x="7142559" y="6459498"/>
            <a:ext cx="345281" cy="345281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228880" y="6545818"/>
            <a:ext cx="172641" cy="172641"/>
          </a:xfrm>
          <a:prstGeom prst="rect">
            <a:avLst/>
          </a:prstGeom>
        </p:spPr>
      </p:pic>
      <p:sp>
        <p:nvSpPr>
          <p:cNvPr id="37" name="Shape 31"/>
          <p:cNvSpPr/>
          <p:nvPr/>
        </p:nvSpPr>
        <p:spPr>
          <a:xfrm>
            <a:off x="483394" y="7035522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8" name="Shape 32"/>
          <p:cNvSpPr/>
          <p:nvPr/>
        </p:nvSpPr>
        <p:spPr>
          <a:xfrm>
            <a:off x="483394" y="7035522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3"/>
          <p:cNvSpPr/>
          <p:nvPr/>
        </p:nvSpPr>
        <p:spPr>
          <a:xfrm>
            <a:off x="621506" y="7173635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生产管理</a:t>
            </a:r>
            <a:endParaRPr lang="en-US" sz="1400" dirty="0"/>
          </a:p>
        </p:txBody>
      </p:sp>
      <p:sp>
        <p:nvSpPr>
          <p:cNvPr id="40" name="Text 34"/>
          <p:cNvSpPr/>
          <p:nvPr/>
        </p:nvSpPr>
        <p:spPr>
          <a:xfrm>
            <a:off x="621506" y="7483078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智能排产与计划监控</a:t>
            </a:r>
            <a:endParaRPr lang="en-US" sz="1050" dirty="0"/>
          </a:p>
        </p:txBody>
      </p:sp>
      <p:sp>
        <p:nvSpPr>
          <p:cNvPr id="41" name="Shape 35"/>
          <p:cNvSpPr/>
          <p:nvPr/>
        </p:nvSpPr>
        <p:spPr>
          <a:xfrm>
            <a:off x="7315200" y="7035522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2" name="Shape 36"/>
          <p:cNvSpPr/>
          <p:nvPr/>
        </p:nvSpPr>
        <p:spPr>
          <a:xfrm>
            <a:off x="7315200" y="7035522"/>
            <a:ext cx="15240" cy="806648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3" name="Shape 37"/>
          <p:cNvSpPr/>
          <p:nvPr/>
        </p:nvSpPr>
        <p:spPr>
          <a:xfrm>
            <a:off x="7315200" y="7035522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8"/>
          <p:cNvSpPr/>
          <p:nvPr/>
        </p:nvSpPr>
        <p:spPr>
          <a:xfrm>
            <a:off x="7660481" y="7173635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现场采集</a:t>
            </a:r>
            <a:endParaRPr lang="en-US" sz="1400" dirty="0"/>
          </a:p>
        </p:txBody>
      </p:sp>
      <p:sp>
        <p:nvSpPr>
          <p:cNvPr id="45" name="Text 39"/>
          <p:cNvSpPr/>
          <p:nvPr/>
        </p:nvSpPr>
        <p:spPr>
          <a:xfrm>
            <a:off x="7660481" y="7483078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条码报工与工时统计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7142559" y="7266146"/>
            <a:ext cx="345281" cy="345281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228880" y="7352467"/>
            <a:ext cx="172641" cy="172641"/>
          </a:xfrm>
          <a:prstGeom prst="rect">
            <a:avLst/>
          </a:prstGeom>
        </p:spPr>
      </p:pic>
      <p:sp>
        <p:nvSpPr>
          <p:cNvPr id="48" name="Shape 41"/>
          <p:cNvSpPr/>
          <p:nvPr/>
        </p:nvSpPr>
        <p:spPr>
          <a:xfrm>
            <a:off x="483394" y="7842171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9" name="Shape 42"/>
          <p:cNvSpPr/>
          <p:nvPr/>
        </p:nvSpPr>
        <p:spPr>
          <a:xfrm>
            <a:off x="483394" y="7842171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3"/>
          <p:cNvSpPr/>
          <p:nvPr/>
        </p:nvSpPr>
        <p:spPr>
          <a:xfrm>
            <a:off x="621506" y="7980283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品质管理</a:t>
            </a:r>
            <a:endParaRPr lang="en-US" sz="1400" dirty="0"/>
          </a:p>
        </p:txBody>
      </p:sp>
      <p:sp>
        <p:nvSpPr>
          <p:cNvPr id="51" name="Text 44"/>
          <p:cNvSpPr/>
          <p:nvPr/>
        </p:nvSpPr>
        <p:spPr>
          <a:xfrm>
            <a:off x="621506" y="8289727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质量检验与异常追溯</a:t>
            </a:r>
            <a:endParaRPr lang="en-US" sz="1050" dirty="0"/>
          </a:p>
        </p:txBody>
      </p:sp>
      <p:sp>
        <p:nvSpPr>
          <p:cNvPr id="52" name="Shape 45"/>
          <p:cNvSpPr/>
          <p:nvPr/>
        </p:nvSpPr>
        <p:spPr>
          <a:xfrm>
            <a:off x="7315200" y="7842171"/>
            <a:ext cx="6831806" cy="806648"/>
          </a:xfrm>
          <a:prstGeom prst="rect">
            <a:avLst/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3" name="Shape 46"/>
          <p:cNvSpPr/>
          <p:nvPr/>
        </p:nvSpPr>
        <p:spPr>
          <a:xfrm>
            <a:off x="7315200" y="7842171"/>
            <a:ext cx="15240" cy="806648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4" name="Shape 47"/>
          <p:cNvSpPr/>
          <p:nvPr/>
        </p:nvSpPr>
        <p:spPr>
          <a:xfrm>
            <a:off x="7315200" y="7842171"/>
            <a:ext cx="6831806" cy="15240"/>
          </a:xfrm>
          <a:prstGeom prst="roundRect">
            <a:avLst>
              <a:gd name="adj" fmla="val 135953"/>
            </a:avLst>
          </a:prstGeom>
          <a:solidFill>
            <a:srgbClr val="D8D4D4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55" name="Text 48"/>
          <p:cNvSpPr/>
          <p:nvPr/>
        </p:nvSpPr>
        <p:spPr>
          <a:xfrm>
            <a:off x="7660481" y="7980283"/>
            <a:ext cx="1812846" cy="2265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钳工管理</a:t>
            </a:r>
            <a:endParaRPr lang="en-US" sz="1400" dirty="0"/>
          </a:p>
        </p:txBody>
      </p:sp>
      <p:sp>
        <p:nvSpPr>
          <p:cNvPr id="56" name="Text 49"/>
          <p:cNvSpPr/>
          <p:nvPr/>
        </p:nvSpPr>
        <p:spPr>
          <a:xfrm>
            <a:off x="7660481" y="8289727"/>
            <a:ext cx="6348413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0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装配工序与进度管理</a:t>
            </a:r>
            <a:endParaRPr lang="en-US" sz="1050" dirty="0"/>
          </a:p>
        </p:txBody>
      </p:sp>
      <p:sp>
        <p:nvSpPr>
          <p:cNvPr id="57" name="Shape 50"/>
          <p:cNvSpPr/>
          <p:nvPr/>
        </p:nvSpPr>
        <p:spPr>
          <a:xfrm>
            <a:off x="7142559" y="8072795"/>
            <a:ext cx="345281" cy="345281"/>
          </a:xfrm>
          <a:prstGeom prst="roundRect">
            <a:avLst>
              <a:gd name="adj" fmla="val 6001"/>
            </a:avLst>
          </a:prstGeom>
          <a:solidFill>
            <a:srgbClr val="FFFFFF"/>
          </a:solidFill>
          <a:ln w="1524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8" name="Image 5" descr="preencoded.png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228880" y="8159115"/>
            <a:ext cx="172641" cy="17264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82360"/>
            <a:ext cx="7730133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MES系统实施带来的显著收益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198024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数字化转型驱动企业核心指标全面提升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2711648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50%+</a:t>
            </a:r>
            <a:endParaRPr lang="en-US" sz="5850" dirty="0"/>
          </a:p>
        </p:txBody>
      </p:sp>
      <p:sp>
        <p:nvSpPr>
          <p:cNvPr id="5" name="Text 3"/>
          <p:cNvSpPr/>
          <p:nvPr/>
        </p:nvSpPr>
        <p:spPr>
          <a:xfrm>
            <a:off x="829270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交付延期减少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4251603"/>
            <a:ext cx="304800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智能排产与实时监控大幅提升准时交付率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4125278" y="271164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10%+</a:t>
            </a:r>
            <a:endParaRPr lang="en-US" sz="5850" dirty="0"/>
          </a:p>
        </p:txBody>
      </p:sp>
      <p:sp>
        <p:nvSpPr>
          <p:cNvPr id="8" name="Text 6"/>
          <p:cNvSpPr/>
          <p:nvPr/>
        </p:nvSpPr>
        <p:spPr>
          <a:xfrm>
            <a:off x="4160758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制造周期缩短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4125278" y="4251603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优化工序流程，提高生产效率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456884" y="271164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30%+</a:t>
            </a:r>
            <a:endParaRPr lang="en-US" sz="5850" dirty="0"/>
          </a:p>
        </p:txBody>
      </p:sp>
      <p:sp>
        <p:nvSpPr>
          <p:cNvPr id="11" name="Text 9"/>
          <p:cNvSpPr/>
          <p:nvPr/>
        </p:nvSpPr>
        <p:spPr>
          <a:xfrm>
            <a:off x="7492365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管理效率提升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7456884" y="425160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自动化数据采集释放管理人员精力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788491" y="2711648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15%+</a:t>
            </a:r>
            <a:endParaRPr lang="en-US" sz="5850" dirty="0"/>
          </a:p>
        </p:txBody>
      </p:sp>
      <p:sp>
        <p:nvSpPr>
          <p:cNvPr id="14" name="Text 12"/>
          <p:cNvSpPr/>
          <p:nvPr/>
        </p:nvSpPr>
        <p:spPr>
          <a:xfrm>
            <a:off x="10823972" y="3743444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设备利用率提升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10788491" y="4251603"/>
            <a:ext cx="304811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负荷均衡与智能调度提高设备稼动率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93790" y="5544383"/>
            <a:ext cx="3048000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60%+</a:t>
            </a:r>
            <a:endParaRPr lang="en-US" sz="5850" dirty="0"/>
          </a:p>
        </p:txBody>
      </p:sp>
      <p:sp>
        <p:nvSpPr>
          <p:cNvPr id="17" name="Text 15"/>
          <p:cNvSpPr/>
          <p:nvPr/>
        </p:nvSpPr>
        <p:spPr>
          <a:xfrm>
            <a:off x="829270" y="65761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数据统计时间减少</a:t>
            </a:r>
            <a:endParaRPr lang="en-US" sz="2300" dirty="0"/>
          </a:p>
        </p:txBody>
      </p:sp>
      <p:sp>
        <p:nvSpPr>
          <p:cNvPr id="18" name="Text 16"/>
          <p:cNvSpPr/>
          <p:nvPr/>
        </p:nvSpPr>
        <p:spPr>
          <a:xfrm>
            <a:off x="793790" y="7084338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实时数据采集替代手工统计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4125278" y="554438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60%+</a:t>
            </a:r>
            <a:endParaRPr lang="en-US" sz="5850" dirty="0"/>
          </a:p>
        </p:txBody>
      </p:sp>
      <p:sp>
        <p:nvSpPr>
          <p:cNvPr id="20" name="Text 18"/>
          <p:cNvSpPr/>
          <p:nvPr/>
        </p:nvSpPr>
        <p:spPr>
          <a:xfrm>
            <a:off x="4160758" y="65761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车间管理可视化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4125278" y="708433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多维度看板实现透明化管理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7456884" y="554438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75%+</a:t>
            </a:r>
            <a:endParaRPr lang="en-US" sz="5850" dirty="0"/>
          </a:p>
        </p:txBody>
      </p:sp>
      <p:sp>
        <p:nvSpPr>
          <p:cNvPr id="23" name="Text 21"/>
          <p:cNvSpPr/>
          <p:nvPr/>
        </p:nvSpPr>
        <p:spPr>
          <a:xfrm>
            <a:off x="7492365" y="65761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数据可追溯性提升</a:t>
            </a:r>
            <a:endParaRPr lang="en-US" sz="2300" dirty="0"/>
          </a:p>
        </p:txBody>
      </p:sp>
      <p:sp>
        <p:nvSpPr>
          <p:cNvPr id="24" name="Text 22"/>
          <p:cNvSpPr/>
          <p:nvPr/>
        </p:nvSpPr>
        <p:spPr>
          <a:xfrm>
            <a:off x="7456884" y="708433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全流程数据记录与质量追溯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0788491" y="5544383"/>
            <a:ext cx="3048119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80%+</a:t>
            </a:r>
            <a:endParaRPr lang="en-US" sz="5850" dirty="0"/>
          </a:p>
        </p:txBody>
      </p:sp>
      <p:sp>
        <p:nvSpPr>
          <p:cNvPr id="26" name="Text 24"/>
          <p:cNvSpPr/>
          <p:nvPr/>
        </p:nvSpPr>
        <p:spPr>
          <a:xfrm>
            <a:off x="10823972" y="657617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纸张浪费减少</a:t>
            </a:r>
            <a:endParaRPr lang="en-US" sz="2300" dirty="0"/>
          </a:p>
        </p:txBody>
      </p:sp>
      <p:sp>
        <p:nvSpPr>
          <p:cNvPr id="27" name="Text 25"/>
          <p:cNvSpPr/>
          <p:nvPr/>
        </p:nvSpPr>
        <p:spPr>
          <a:xfrm>
            <a:off x="10788491" y="7084338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无纸化生产管理，绿色环保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476738"/>
            <a:ext cx="7556421" cy="14885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700"/>
              </a:lnSpc>
              <a:buNone/>
            </a:pPr>
            <a:r>
              <a:rPr lang="en-US" sz="93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02</a:t>
            </a:r>
            <a:endParaRPr lang="en-US" sz="9350" dirty="0"/>
          </a:p>
        </p:txBody>
      </p:sp>
      <p:sp>
        <p:nvSpPr>
          <p:cNvPr id="4" name="Text 1"/>
          <p:cNvSpPr/>
          <p:nvPr/>
        </p:nvSpPr>
        <p:spPr>
          <a:xfrm>
            <a:off x="6280190" y="4305419"/>
            <a:ext cx="5954197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功能概述</a:t>
            </a:r>
            <a:endParaRPr lang="en-US" sz="4650" dirty="0"/>
          </a:p>
        </p:txBody>
      </p:sp>
      <p:sp>
        <p:nvSpPr>
          <p:cNvPr id="5" name="Text 2"/>
          <p:cNvSpPr/>
          <p:nvPr/>
        </p:nvSpPr>
        <p:spPr>
          <a:xfrm>
            <a:off x="6280190" y="5389840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深入了解MES系统各核心模块的功能细节与应用场景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6526" y="610195"/>
            <a:ext cx="4659749" cy="582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50"/>
              </a:lnSpc>
              <a:buNone/>
            </a:pPr>
            <a:r>
              <a:rPr lang="en-US" sz="3650" b="1" dirty="0">
                <a:solidFill>
                  <a:srgbClr val="E04F00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业务管理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76526" y="1281351"/>
            <a:ext cx="9319260" cy="7280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700"/>
              </a:lnSpc>
              <a:buNone/>
            </a:pPr>
            <a:r>
              <a:rPr lang="en-US" sz="45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订单管理：报价到成本的全流程透明</a:t>
            </a:r>
            <a:endParaRPr lang="en-US" sz="4550" dirty="0"/>
          </a:p>
        </p:txBody>
      </p:sp>
      <p:sp>
        <p:nvSpPr>
          <p:cNvPr id="4" name="Text 2"/>
          <p:cNvSpPr/>
          <p:nvPr/>
        </p:nvSpPr>
        <p:spPr>
          <a:xfrm>
            <a:off x="776526" y="2564011"/>
            <a:ext cx="2912388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智能报价生成</a:t>
            </a:r>
            <a:endParaRPr lang="en-US" sz="2250" dirty="0"/>
          </a:p>
        </p:txBody>
      </p:sp>
      <p:sp>
        <p:nvSpPr>
          <p:cNvPr id="5" name="Text 3"/>
          <p:cNvSpPr/>
          <p:nvPr/>
        </p:nvSpPr>
        <p:spPr>
          <a:xfrm>
            <a:off x="776526" y="3149798"/>
            <a:ext cx="762988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快速生成初始版报价单，设计、材料、标准件、加工费及其他类费用一应俱全。系统自动计算综合成本，支持多版本对比。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6526" y="4081701"/>
            <a:ext cx="2912388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成本利润对比</a:t>
            </a:r>
            <a:endParaRPr lang="en-US" sz="2250" dirty="0"/>
          </a:p>
        </p:txBody>
      </p:sp>
      <p:sp>
        <p:nvSpPr>
          <p:cNvPr id="7" name="Text 5"/>
          <p:cNvSpPr/>
          <p:nvPr/>
        </p:nvSpPr>
        <p:spPr>
          <a:xfrm>
            <a:off x="776526" y="4667488"/>
            <a:ext cx="762988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报价、计划、实际成本三维对比，利润了然于胸。实时追踪项目盈利状况，为决策提供数据支撑。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76526" y="5599390"/>
            <a:ext cx="2912388" cy="3639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产能评估预警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776526" y="6185178"/>
            <a:ext cx="7629882" cy="7100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对自己的产能做出准确评估，降低延期风险。销售数据一览全余，助力科学决策。</a:t>
            </a:r>
            <a:endParaRPr lang="en-US" sz="17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30458DC6-FFBF-713E-CDA0-A972C7D95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564011"/>
            <a:ext cx="7062751" cy="37865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6280190" y="959525"/>
            <a:ext cx="997506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6416278" y="1027509"/>
            <a:ext cx="7253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工艺管理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476494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工艺知识库：标准化提升效率</a:t>
            </a:r>
            <a:endParaRPr lang="en-US" sz="4650" dirty="0"/>
          </a:p>
        </p:txBody>
      </p:sp>
      <p:sp>
        <p:nvSpPr>
          <p:cNvPr id="6" name="Shape 3"/>
          <p:cNvSpPr/>
          <p:nvPr/>
        </p:nvSpPr>
        <p:spPr>
          <a:xfrm>
            <a:off x="6280190" y="3305175"/>
            <a:ext cx="3664744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7" name="Text 4"/>
          <p:cNvSpPr/>
          <p:nvPr/>
        </p:nvSpPr>
        <p:spPr>
          <a:xfrm>
            <a:off x="6507004" y="35319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工艺数据库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6507004" y="4040148"/>
            <a:ext cx="321111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搭建工艺基础数据库,利于工艺复用,提高工艺编制效率。历史工艺沉淀为企业知识资产。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10171748" y="3305175"/>
            <a:ext cx="3664863" cy="2050494"/>
          </a:xfrm>
          <a:prstGeom prst="roundRect">
            <a:avLst>
              <a:gd name="adj" fmla="val 1659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10398562" y="3531989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加工指导</a:t>
            </a:r>
            <a:endParaRPr lang="en-US" sz="2300" dirty="0"/>
          </a:p>
        </p:txBody>
      </p:sp>
      <p:sp>
        <p:nvSpPr>
          <p:cNvPr id="11" name="Text 8"/>
          <p:cNvSpPr/>
          <p:nvPr/>
        </p:nvSpPr>
        <p:spPr>
          <a:xfrm>
            <a:off x="10398562" y="4040148"/>
            <a:ext cx="3211235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定义好加工内容,指导加工,包括预计工时、是否强制检验、计划资源等关键参数。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6280190" y="5582483"/>
            <a:ext cx="7556421" cy="1687592"/>
          </a:xfrm>
          <a:prstGeom prst="roundRect">
            <a:avLst>
              <a:gd name="adj" fmla="val 2016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6507004" y="580929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版本管理</a:t>
            </a:r>
            <a:endParaRPr lang="en-US" sz="2300" dirty="0"/>
          </a:p>
        </p:txBody>
      </p:sp>
      <p:sp>
        <p:nvSpPr>
          <p:cNvPr id="14" name="Text 11"/>
          <p:cNvSpPr/>
          <p:nvPr/>
        </p:nvSpPr>
        <p:spPr>
          <a:xfrm>
            <a:off x="6507004" y="6317456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工艺变更及版本管理,确保工艺文件的准确性和可追溯性,避免使用过期工艺。</a:t>
            </a:r>
            <a:endParaRPr lang="en-US" sz="175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C1E270D-E735-1195-5EFE-BFB5AE1302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81" y="1898582"/>
            <a:ext cx="7737564" cy="401095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2115" y="575191"/>
            <a:ext cx="920115" cy="393263"/>
          </a:xfrm>
          <a:prstGeom prst="roundRect">
            <a:avLst>
              <a:gd name="adj" fmla="val 6384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857607" y="637937"/>
            <a:ext cx="669131" cy="2677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加工管理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2115" y="1052036"/>
            <a:ext cx="9332952" cy="6863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生产调度看板：让每一道工序透明可控</a:t>
            </a:r>
            <a:endParaRPr lang="en-US" sz="4300" dirty="0"/>
          </a:p>
        </p:txBody>
      </p:sp>
      <p:sp>
        <p:nvSpPr>
          <p:cNvPr id="6" name="Text 3"/>
          <p:cNvSpPr/>
          <p:nvPr/>
        </p:nvSpPr>
        <p:spPr>
          <a:xfrm>
            <a:off x="6894076" y="2287429"/>
            <a:ext cx="20919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894076" y="2620089"/>
            <a:ext cx="7011710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8" name="Text 5"/>
          <p:cNvSpPr/>
          <p:nvPr/>
        </p:nvSpPr>
        <p:spPr>
          <a:xfrm>
            <a:off x="6894076" y="2770346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实时监控</a:t>
            </a:r>
            <a:endParaRPr lang="en-US" sz="2150" dirty="0"/>
          </a:p>
        </p:txBody>
      </p:sp>
      <p:sp>
        <p:nvSpPr>
          <p:cNvPr id="9" name="Text 6"/>
          <p:cNvSpPr/>
          <p:nvPr/>
        </p:nvSpPr>
        <p:spPr>
          <a:xfrm>
            <a:off x="6894076" y="3322677"/>
            <a:ext cx="7011710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生产进度透明化,实时监控到每一道工序,车间状态尽在掌握。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894076" y="4023360"/>
            <a:ext cx="20919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894076" y="4356021"/>
            <a:ext cx="7011710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894076" y="4506278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条码扫描</a:t>
            </a:r>
            <a:endParaRPr lang="en-US" sz="2150" dirty="0"/>
          </a:p>
        </p:txBody>
      </p:sp>
      <p:sp>
        <p:nvSpPr>
          <p:cNvPr id="13" name="Text 10"/>
          <p:cNvSpPr/>
          <p:nvPr/>
        </p:nvSpPr>
        <p:spPr>
          <a:xfrm>
            <a:off x="6894076" y="5058608"/>
            <a:ext cx="7011710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条码扫描报工,操作方便快捷,减少人工录入错误,提升数据准确性。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894076" y="5759291"/>
            <a:ext cx="209193" cy="261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PT Serif Light" pitchFamily="34" charset="0"/>
                <a:ea typeface="PT Serif Light" pitchFamily="34" charset="-122"/>
                <a:cs typeface="PT Serif Light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894076" y="6091952"/>
            <a:ext cx="7011710" cy="22860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6894076" y="6242209"/>
            <a:ext cx="2745700" cy="343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效率提升</a:t>
            </a:r>
            <a:endParaRPr lang="en-US" sz="2150" dirty="0"/>
          </a:p>
        </p:txBody>
      </p:sp>
      <p:sp>
        <p:nvSpPr>
          <p:cNvPr id="17" name="Text 14"/>
          <p:cNvSpPr/>
          <p:nvPr/>
        </p:nvSpPr>
        <p:spPr>
          <a:xfrm>
            <a:off x="6894076" y="6794540"/>
            <a:ext cx="7011710" cy="3346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提高生产效率、降低运营成本、增强数据安全性,全面优化生产管理。</a:t>
            </a:r>
            <a:endParaRPr lang="en-US" sz="16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365BB0AF-9C30-36E4-B7DF-97D69B064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4" y="2781651"/>
            <a:ext cx="6308132" cy="40303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41137" y="748784"/>
            <a:ext cx="948214" cy="405289"/>
          </a:xfrm>
          <a:prstGeom prst="roundRect">
            <a:avLst>
              <a:gd name="adj" fmla="val 6385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4" name="Text 1"/>
          <p:cNvSpPr/>
          <p:nvPr/>
        </p:nvSpPr>
        <p:spPr>
          <a:xfrm>
            <a:off x="6370439" y="813435"/>
            <a:ext cx="689610" cy="275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3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智能排产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6241137" y="1240274"/>
            <a:ext cx="7634526" cy="1414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 与 APS 集成：规划与执行的完美协同</a:t>
            </a:r>
            <a:endParaRPr lang="en-US" sz="44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137" y="2978587"/>
            <a:ext cx="1078230" cy="160412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34989" y="3194209"/>
            <a:ext cx="2830354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MES 实时执行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7534989" y="3677245"/>
            <a:ext cx="6340673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负责监控和控制生产过程的实时运行,跟踪工厂内的设备、人员和物料动态。</a:t>
            </a:r>
            <a:endParaRPr lang="en-US" sz="16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137" y="4582716"/>
            <a:ext cx="1078230" cy="160412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534989" y="4798338"/>
            <a:ext cx="2830354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数据共享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7534989" y="5281374"/>
            <a:ext cx="6340673" cy="68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MES 和 APS 之间的数据共享可以提高整体生产效率,实现计划与执行的无缝衔接。</a:t>
            </a:r>
            <a:endParaRPr lang="en-US" sz="16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1137" y="6186845"/>
            <a:ext cx="1078230" cy="129385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534989" y="6402467"/>
            <a:ext cx="2830354" cy="3537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APS 智能规划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7534989" y="6885503"/>
            <a:ext cx="6340673" cy="344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6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侧重于长期和中期的规划,确保生产资源的最佳利用,优化排程策略。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152531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7077" y="1860828"/>
            <a:ext cx="5762863" cy="4002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智能排产流程：从计划到执行的闭环管理</a:t>
            </a:r>
            <a:endParaRPr lang="en-US" sz="2500" dirty="0"/>
          </a:p>
        </p:txBody>
      </p:sp>
      <p:sp>
        <p:nvSpPr>
          <p:cNvPr id="4" name="Text 1"/>
          <p:cNvSpPr/>
          <p:nvPr/>
        </p:nvSpPr>
        <p:spPr>
          <a:xfrm>
            <a:off x="610076" y="2581394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排程约束条件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10076" y="2903458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设备日历与可用时间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610076" y="3141345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材料到货时间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610076" y="3379232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电极准备时间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610076" y="3617119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订单交货期限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610076" y="3855006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工序标准工时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610076" y="4092893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原材料库存状态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610076" y="4330779"/>
            <a:ext cx="6556296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500"/>
              </a:lnSpc>
              <a:buSzPct val="100000"/>
              <a:buChar char="•"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订单优先级别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27077" y="2581394"/>
            <a:ext cx="15240" cy="1944648"/>
          </a:xfrm>
          <a:prstGeom prst="rect">
            <a:avLst/>
          </a:prstGeom>
          <a:solidFill>
            <a:srgbClr val="E04F00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0"/>
          <p:cNvSpPr/>
          <p:nvPr/>
        </p:nvSpPr>
        <p:spPr>
          <a:xfrm>
            <a:off x="7471648" y="2581394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7624167" y="2847618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1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081605" y="2703314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更新发布计划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8081605" y="3025378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启动排产流程,导入订单数据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471648" y="3464481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7624167" y="3730704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8081605" y="3586401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设计/工艺/编程分析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8081605" y="3908465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技术准备与工艺路线确认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7471648" y="4347567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7624167" y="4613791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8081605" y="4469487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启动动态排程</a:t>
            </a:r>
            <a:endParaRPr lang="en-US" sz="1250" dirty="0"/>
          </a:p>
        </p:txBody>
      </p:sp>
      <p:sp>
        <p:nvSpPr>
          <p:cNvPr id="24" name="Text 21"/>
          <p:cNvSpPr/>
          <p:nvPr/>
        </p:nvSpPr>
        <p:spPr>
          <a:xfrm>
            <a:off x="8081605" y="4791551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系统自动计算最优方案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7471648" y="5230654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7624167" y="5496878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4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081605" y="5352574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计算工序加工优先级</a:t>
            </a:r>
            <a:endParaRPr lang="en-US" sz="1250" dirty="0"/>
          </a:p>
        </p:txBody>
      </p:sp>
      <p:sp>
        <p:nvSpPr>
          <p:cNvPr id="28" name="Text 25"/>
          <p:cNvSpPr/>
          <p:nvPr/>
        </p:nvSpPr>
        <p:spPr>
          <a:xfrm>
            <a:off x="8081605" y="5674638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综合考虑多维度约束条件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7471648" y="6113740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7624167" y="6379964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8081605" y="6235660"/>
            <a:ext cx="1601510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推算交期风险</a:t>
            </a:r>
            <a:endParaRPr lang="en-US" sz="1250" dirty="0"/>
          </a:p>
        </p:txBody>
      </p:sp>
      <p:sp>
        <p:nvSpPr>
          <p:cNvPr id="32" name="Text 29"/>
          <p:cNvSpPr/>
          <p:nvPr/>
        </p:nvSpPr>
        <p:spPr>
          <a:xfrm>
            <a:off x="8081605" y="6557724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预判可能的延期风险点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7471648" y="6996827"/>
            <a:ext cx="488037" cy="761167"/>
          </a:xfrm>
          <a:prstGeom prst="roundRect">
            <a:avLst>
              <a:gd name="adj" fmla="val 36005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7624167" y="7263051"/>
            <a:ext cx="182999" cy="228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8081605" y="7118747"/>
            <a:ext cx="1655326" cy="2001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依次上机加工/人工干预</a:t>
            </a:r>
            <a:endParaRPr lang="en-US" sz="1250" dirty="0"/>
          </a:p>
        </p:txBody>
      </p:sp>
      <p:sp>
        <p:nvSpPr>
          <p:cNvPr id="36" name="Text 33"/>
          <p:cNvSpPr/>
          <p:nvPr/>
        </p:nvSpPr>
        <p:spPr>
          <a:xfrm>
            <a:off x="8081605" y="7440811"/>
            <a:ext cx="6129338" cy="1952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执行生产或调整计划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47963"/>
            <a:ext cx="7556421" cy="1488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资源负荷分析：精准掌控产能瓶颈</a:t>
            </a:r>
            <a:endParaRPr lang="en-US" sz="4650" dirty="0"/>
          </a:p>
        </p:txBody>
      </p:sp>
      <p:sp>
        <p:nvSpPr>
          <p:cNvPr id="4" name="Text 1"/>
          <p:cNvSpPr/>
          <p:nvPr/>
        </p:nvSpPr>
        <p:spPr>
          <a:xfrm>
            <a:off x="6280190" y="2676644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实时监控磨床、慢走丝、放电、中走丝、车床、NC等资源组的"可用时间"与"是否超负荷"状态。系统自动计算每个资源组的负荷率,红色预警超负荷设备,绿色显示空闲产能,帮助管理者快速识别生产瓶颈。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4020503"/>
            <a:ext cx="3664744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3"/>
          <p:cNvSpPr/>
          <p:nvPr/>
        </p:nvSpPr>
        <p:spPr>
          <a:xfrm>
            <a:off x="6537484" y="42777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负荷可视化</a:t>
            </a:r>
            <a:endParaRPr lang="en-US" sz="2300" dirty="0"/>
          </a:p>
        </p:txBody>
      </p:sp>
      <p:sp>
        <p:nvSpPr>
          <p:cNvPr id="7" name="Text 4"/>
          <p:cNvSpPr/>
          <p:nvPr/>
        </p:nvSpPr>
        <p:spPr>
          <a:xfrm>
            <a:off x="6537484" y="4785955"/>
            <a:ext cx="315015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资源组负荷一目了然,超负荷设备自动预警提醒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10171748" y="4020503"/>
            <a:ext cx="3664863" cy="1748552"/>
          </a:xfrm>
          <a:prstGeom prst="roundRect">
            <a:avLst>
              <a:gd name="adj" fmla="val 1946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10429042" y="4277797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工序计划表</a:t>
            </a:r>
            <a:endParaRPr lang="en-US" sz="2300" dirty="0"/>
          </a:p>
        </p:txBody>
      </p:sp>
      <p:sp>
        <p:nvSpPr>
          <p:cNvPr id="10" name="Text 7"/>
          <p:cNvSpPr/>
          <p:nvPr/>
        </p:nvSpPr>
        <p:spPr>
          <a:xfrm>
            <a:off x="10429042" y="4785955"/>
            <a:ext cx="315027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展示每个零件单号的预计工时、工序计划开始/结束时间</a:t>
            </a:r>
            <a:endParaRPr lang="en-US" sz="1750" dirty="0"/>
          </a:p>
        </p:txBody>
      </p:sp>
      <p:sp>
        <p:nvSpPr>
          <p:cNvPr id="11" name="Shape 8"/>
          <p:cNvSpPr/>
          <p:nvPr/>
        </p:nvSpPr>
        <p:spPr>
          <a:xfrm>
            <a:off x="6280190" y="5995868"/>
            <a:ext cx="7556421" cy="1385649"/>
          </a:xfrm>
          <a:prstGeom prst="roundRect">
            <a:avLst>
              <a:gd name="adj" fmla="val 2455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6537484" y="6253163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产能优化</a:t>
            </a:r>
            <a:endParaRPr lang="en-US" sz="2300" dirty="0"/>
          </a:p>
        </p:txBody>
      </p:sp>
      <p:sp>
        <p:nvSpPr>
          <p:cNvPr id="13" name="Text 10"/>
          <p:cNvSpPr/>
          <p:nvPr/>
        </p:nvSpPr>
        <p:spPr>
          <a:xfrm>
            <a:off x="6537484" y="6761321"/>
            <a:ext cx="704183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基于负荷数据调整排产,平衡各工序产能,提升整体效率</a:t>
            </a:r>
            <a:endParaRPr lang="en-US" sz="1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9603" y="494705"/>
            <a:ext cx="791051" cy="338138"/>
          </a:xfrm>
          <a:prstGeom prst="roundRect">
            <a:avLst>
              <a:gd name="adj" fmla="val 6385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737473" y="548640"/>
            <a:ext cx="575310" cy="2302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1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现场加工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29603" y="904756"/>
            <a:ext cx="6610945" cy="590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条码报工：移动化赋能车间管理</a:t>
            </a:r>
            <a:endParaRPr lang="en-US" sz="3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603" y="1967032"/>
            <a:ext cx="6466165" cy="646616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2252" y="1967032"/>
            <a:ext cx="449699" cy="44969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216741" y="2073831"/>
            <a:ext cx="236124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扫码报工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8216741" y="2548771"/>
            <a:ext cx="5791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操作快速方便,一扫即完成工序报工,大幅减少操作时间</a:t>
            </a:r>
            <a:endParaRPr lang="en-US" sz="14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542252" y="3196352"/>
            <a:ext cx="449699" cy="44969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216741" y="3303151"/>
            <a:ext cx="236124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工时绩效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216741" y="3778091"/>
            <a:ext cx="5791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员工工时绩效更加准确,自动统计个人产量与效率数据</a:t>
            </a:r>
            <a:endParaRPr lang="en-US" sz="14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542252" y="4425672"/>
            <a:ext cx="449699" cy="44969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216741" y="4532471"/>
            <a:ext cx="236124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透明管理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8216741" y="5007412"/>
            <a:ext cx="5791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员工响应速度、工序进度透明化,可视化程度高</a:t>
            </a:r>
            <a:endParaRPr lang="en-US" sz="14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542252" y="5654993"/>
            <a:ext cx="449699" cy="44969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8216741" y="5761792"/>
            <a:ext cx="2361248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移动查询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8216741" y="6236732"/>
            <a:ext cx="5791676" cy="287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移动端随时查看进度、工时排名,激发员工积极性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031558"/>
            <a:ext cx="997506" cy="426244"/>
          </a:xfrm>
          <a:prstGeom prst="roundRect">
            <a:avLst>
              <a:gd name="adj" fmla="val 6386"/>
            </a:avLst>
          </a:prstGeom>
          <a:solidFill>
            <a:srgbClr val="FFDECC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3" name="Text 1"/>
          <p:cNvSpPr/>
          <p:nvPr/>
        </p:nvSpPr>
        <p:spPr>
          <a:xfrm>
            <a:off x="929878" y="1099542"/>
            <a:ext cx="725329" cy="2902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40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品质管理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793790" y="1548527"/>
            <a:ext cx="11210330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质量全流程分析：PDCA 闭环提升产品质量</a:t>
            </a:r>
            <a:endParaRPr lang="en-US" sz="4650" dirty="0"/>
          </a:p>
        </p:txBody>
      </p:sp>
      <p:sp>
        <p:nvSpPr>
          <p:cNvPr id="5" name="Text 3"/>
          <p:cNvSpPr/>
          <p:nvPr/>
        </p:nvSpPr>
        <p:spPr>
          <a:xfrm>
            <a:off x="1715453" y="307217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多维检验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793790" y="3580328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支持来料检、过程检、成品检等多种检验方式</a:t>
            </a:r>
            <a:endParaRPr lang="en-US" sz="175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6731" y="3438406"/>
            <a:ext cx="339328" cy="33932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937790" y="3072170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异常追溯</a:t>
            </a:r>
            <a:endParaRPr lang="en-US" sz="2300" dirty="0"/>
          </a:p>
        </p:txBody>
      </p:sp>
      <p:sp>
        <p:nvSpPr>
          <p:cNvPr id="10" name="Text 6"/>
          <p:cNvSpPr/>
          <p:nvPr/>
        </p:nvSpPr>
        <p:spPr>
          <a:xfrm>
            <a:off x="9937790" y="3580328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记录质量异常处理过程,做到责任有据可查</a:t>
            </a:r>
            <a:endParaRPr lang="en-US" sz="175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52604" y="3826907"/>
            <a:ext cx="339328" cy="33932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937790" y="55247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成本报表</a:t>
            </a:r>
            <a:endParaRPr lang="en-US" sz="2300" dirty="0"/>
          </a:p>
        </p:txBody>
      </p:sp>
      <p:sp>
        <p:nvSpPr>
          <p:cNvPr id="14" name="Text 8"/>
          <p:cNvSpPr/>
          <p:nvPr/>
        </p:nvSpPr>
        <p:spPr>
          <a:xfrm>
            <a:off x="9937790" y="603289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质量异常成本及问题以报表形式展示,量化损失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064103" y="6052780"/>
            <a:ext cx="339328" cy="339328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1715453" y="552473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PDCA 循环</a:t>
            </a:r>
            <a:endParaRPr lang="en-US" sz="2300" dirty="0"/>
          </a:p>
        </p:txBody>
      </p:sp>
      <p:sp>
        <p:nvSpPr>
          <p:cNvPr id="18" name="Text 10"/>
          <p:cNvSpPr/>
          <p:nvPr/>
        </p:nvSpPr>
        <p:spPr>
          <a:xfrm>
            <a:off x="793790" y="603289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建立持续改进模式,提高产品质量与客户满意度</a:t>
            </a:r>
            <a:endParaRPr lang="en-US" sz="175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32653" y="2632948"/>
            <a:ext cx="4564975" cy="4564975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5838230" y="5664279"/>
            <a:ext cx="339328" cy="33932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7832"/>
            <a:ext cx="8929688" cy="744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850"/>
              </a:lnSpc>
              <a:buNone/>
            </a:pPr>
            <a:r>
              <a:rPr lang="en-US" sz="4650" dirty="0">
                <a:solidFill>
                  <a:srgbClr val="020202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数据可视化：打造数字化透明工厂</a:t>
            </a:r>
            <a:endParaRPr lang="en-US" sz="4650" dirty="0"/>
          </a:p>
        </p:txBody>
      </p:sp>
      <p:sp>
        <p:nvSpPr>
          <p:cNvPr id="3" name="Text 1"/>
          <p:cNvSpPr/>
          <p:nvPr/>
        </p:nvSpPr>
        <p:spPr>
          <a:xfrm>
            <a:off x="793790" y="385572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对设备进行精准采集,看板管理使车间更加美观、透明。报表、数据分析快速出结果,驱动企业科学决策。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70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部门综合看板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93790" y="5208746"/>
            <a:ext cx="304800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部门效率与产能实时监控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70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加工效率看板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4125278" y="520874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工序效率与设备利用率分析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70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质量看板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7456884" y="520874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质量指标与异常追踪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700588"/>
            <a:ext cx="2977039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T Serif" pitchFamily="34" charset="0"/>
                <a:ea typeface="PT Serif" pitchFamily="34" charset="-122"/>
                <a:cs typeface="PT Serif" pitchFamily="34" charset="-120"/>
              </a:rPr>
              <a:t>销售看板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788491" y="5208746"/>
            <a:ext cx="304811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订单状态与销售数据分析</a:t>
            </a:r>
            <a:endParaRPr lang="en-US" sz="175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18CF83E1-8B74-E019-3939-15E7663649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10" y="105195"/>
            <a:ext cx="6800043" cy="36144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f8ff0ba-2c7f-4933-9c1e-ebae2a04b3e3}" enabled="1" method="Standard" siteId="{d0f5c1a2-e9a8-44ff-a1cc-b094c39a84d8}" contentBits="3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565</Words>
  <Application>Microsoft Office PowerPoint</Application>
  <PresentationFormat>自定义</PresentationFormat>
  <Paragraphs>247</Paragraphs>
  <Slides>18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3" baseType="lpstr">
      <vt:lpstr>PT Serif</vt:lpstr>
      <vt:lpstr>Arial</vt:lpstr>
      <vt:lpstr>PT Serif Light</vt:lpstr>
      <vt:lpstr>DM 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Cao, Camorhan</cp:lastModifiedBy>
  <cp:revision>3</cp:revision>
  <dcterms:created xsi:type="dcterms:W3CDTF">2026-01-05T03:11:56Z</dcterms:created>
  <dcterms:modified xsi:type="dcterms:W3CDTF">2026-01-05T05:55:41Z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Office Theme:3</vt:lpwstr>
  </property>
  <property fmtid="{D5CDD505-2E9C-101B-9397-08002B2CF9AE}" pid="3" name="ClassificationContentMarkingFooterText">
    <vt:lpwstr>INTERNAL </vt:lpwstr>
  </property>
</Properties>
</file>